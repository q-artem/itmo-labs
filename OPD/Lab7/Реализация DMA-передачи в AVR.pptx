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7" r:id="rId3"/>
    <p:sldId id="269" r:id="rId4"/>
    <p:sldId id="270" r:id="rId5"/>
    <p:sldId id="268" r:id="rId6"/>
    <p:sldId id="271" r:id="rId7"/>
    <p:sldId id="272" r:id="rId8"/>
    <p:sldId id="275" r:id="rId9"/>
    <p:sldId id="273" r:id="rId10"/>
    <p:sldId id="274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88" autoAdjust="0"/>
    <p:restoredTop sz="94660"/>
  </p:normalViewPr>
  <p:slideViewPr>
    <p:cSldViewPr snapToGrid="0">
      <p:cViewPr>
        <p:scale>
          <a:sx n="125" d="100"/>
          <a:sy n="125" d="100"/>
        </p:scale>
        <p:origin x="1632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2108" y="1220774"/>
            <a:ext cx="6932141" cy="2369093"/>
          </a:xfrm>
        </p:spPr>
        <p:txBody>
          <a:bodyPr>
            <a:normAutofit/>
          </a:bodyPr>
          <a:lstStyle/>
          <a:p>
            <a:r>
              <a:rPr lang="ru-RU" sz="4800" dirty="0"/>
              <a:t>Реализация </a:t>
            </a:r>
            <a:br>
              <a:rPr lang="ru-RU" sz="4800" dirty="0"/>
            </a:br>
            <a:r>
              <a:rPr lang="en-US" sz="4800" dirty="0"/>
              <a:t>DMA-</a:t>
            </a:r>
            <a:r>
              <a:rPr lang="ru-RU" sz="4800" dirty="0"/>
              <a:t>передачи в </a:t>
            </a:r>
            <a:r>
              <a:rPr lang="en-US" sz="4800" dirty="0"/>
              <a:t>AVR</a:t>
            </a:r>
            <a:endParaRPr lang="ru-RU" sz="4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0011" y="3589867"/>
            <a:ext cx="7274238" cy="1096901"/>
          </a:xfrm>
        </p:spPr>
        <p:txBody>
          <a:bodyPr>
            <a:normAutofit/>
          </a:bodyPr>
          <a:lstStyle/>
          <a:p>
            <a:r>
              <a:rPr lang="ru-RU" sz="1600" dirty="0"/>
              <a:t>Пшеничников Артём </a:t>
            </a:r>
            <a:r>
              <a:rPr lang="en-US" sz="1600" dirty="0"/>
              <a:t>P</a:t>
            </a:r>
            <a:r>
              <a:rPr lang="ru-RU" sz="1600" dirty="0"/>
              <a:t>3107</a:t>
            </a:r>
            <a:r>
              <a:rPr lang="en-US" sz="1600" dirty="0"/>
              <a:t>, </a:t>
            </a:r>
            <a:r>
              <a:rPr lang="ru-RU" sz="1600" dirty="0"/>
              <a:t>лаба</a:t>
            </a:r>
            <a:r>
              <a:rPr lang="en-US" altLang="ru-RU" sz="1600" dirty="0"/>
              <a:t> </a:t>
            </a:r>
            <a:r>
              <a:rPr lang="ru-RU" altLang="ru-RU" sz="1600" dirty="0"/>
              <a:t>7</a:t>
            </a:r>
          </a:p>
        </p:txBody>
      </p:sp>
      <p:cxnSp>
        <p:nvCxnSpPr>
          <p:cNvPr id="6" name="Straight Connector 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5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7" name="Isosceles Tri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9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Isosceles Tri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DMA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DMA  — это механизм, позволяющий пересылать данные между периферийными устройствами и памятью (или между двумя областями памяти), не используя CPU</a:t>
            </a:r>
          </a:p>
          <a:p>
            <a:r>
              <a:rPr lang="ru-RU" dirty="0"/>
              <a:t>DMA получает адрес источника данных, указывает, куда их положить, сколько байт/слов передать, и по сигналу от периферии (например, завершению преобразования АЦП) начинает работать</a:t>
            </a:r>
          </a:p>
          <a:p>
            <a:r>
              <a:rPr lang="ru-RU" dirty="0"/>
              <a:t>Всё это происходит в фоновом режиме </a:t>
            </a:r>
          </a:p>
          <a:p>
            <a:pPr lvl="1"/>
            <a:r>
              <a:rPr lang="ru-RU" dirty="0"/>
              <a:t>Разгрузка процессора –</a:t>
            </a:r>
            <a:r>
              <a:rPr lang="en-US" dirty="0"/>
              <a:t>&gt;</a:t>
            </a:r>
            <a:r>
              <a:rPr lang="ru-RU" dirty="0"/>
              <a:t> больше времени на выполнение других задач</a:t>
            </a:r>
          </a:p>
          <a:p>
            <a:pPr lvl="1"/>
            <a:r>
              <a:rPr lang="ru-RU" dirty="0"/>
              <a:t>Снижение энергопотребления</a:t>
            </a:r>
          </a:p>
          <a:p>
            <a:pPr lvl="1"/>
            <a:r>
              <a:rPr lang="ru-RU" dirty="0"/>
              <a:t>Увеличение скорости обработки данных</a:t>
            </a:r>
          </a:p>
          <a:p>
            <a:pPr lvl="1"/>
            <a:r>
              <a:rPr lang="ru-RU" dirty="0"/>
              <a:t>Уменьшение задержки при передаче больших объёмов информации</a:t>
            </a:r>
          </a:p>
          <a:p>
            <a:r>
              <a:rPr lang="ru-RU" dirty="0"/>
              <a:t>Во время работы </a:t>
            </a:r>
            <a:r>
              <a:rPr lang="en-US" dirty="0"/>
              <a:t>DMA </a:t>
            </a:r>
            <a:r>
              <a:rPr lang="ru-RU" dirty="0"/>
              <a:t>процессор может Переключиться на выполнение других задач, войти в энергосберегающий режим (спящий), обрабатывать прерывания или выполнять вычисления, не связанные с текущей передачей данных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151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 </a:t>
            </a:r>
            <a:r>
              <a:rPr lang="en-US" dirty="0"/>
              <a:t>DMA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69277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Приём данных с АЦП </a:t>
            </a:r>
          </a:p>
          <a:p>
            <a:pPr lvl="1"/>
            <a:r>
              <a:rPr lang="ru-RU" dirty="0"/>
              <a:t>DMA может автоматически сохранять результаты преобразований АЦП в массив в памяти</a:t>
            </a:r>
          </a:p>
          <a:p>
            <a:pPr lvl="1"/>
            <a:r>
              <a:rPr lang="ru-RU" dirty="0"/>
              <a:t>После каждого завершения преобразования АЦП отправляет сигнал DMA</a:t>
            </a:r>
          </a:p>
          <a:p>
            <a:pPr lvl="1"/>
            <a:r>
              <a:rPr lang="ru-RU" dirty="0"/>
              <a:t>DMA забирает значение из регистра АЦП и записывает его в буфер</a:t>
            </a:r>
          </a:p>
          <a:p>
            <a:pPr lvl="1"/>
            <a:r>
              <a:rPr lang="ru-RU" dirty="0"/>
              <a:t>По окончании заполнения буфера может быть вызвано прерывание, чтобы ядро начало обработку данных (например, фильтрацию или анализ)</a:t>
            </a:r>
          </a:p>
          <a:p>
            <a:pPr lvl="1"/>
            <a:r>
              <a:rPr lang="ru-RU" dirty="0"/>
              <a:t>Результат: процессор не тратит время на каждый отсчёт, а получает готовый массив для обработки</a:t>
            </a:r>
          </a:p>
          <a:p>
            <a:r>
              <a:rPr lang="ru-RU" dirty="0"/>
              <a:t>Отправка данных по UART/SPI </a:t>
            </a:r>
          </a:p>
          <a:p>
            <a:pPr lvl="1"/>
            <a:r>
              <a:rPr lang="ru-RU" dirty="0"/>
              <a:t>DMA также может использоваться для отправки данных : </a:t>
            </a:r>
          </a:p>
          <a:p>
            <a:pPr lvl="1"/>
            <a:r>
              <a:rPr lang="ru-RU" dirty="0"/>
              <a:t>Буфер с данными загружается в память</a:t>
            </a:r>
          </a:p>
          <a:p>
            <a:pPr lvl="1"/>
            <a:r>
              <a:rPr lang="ru-RU" dirty="0"/>
              <a:t>Запуск DMA приводит к тому, что данные посылаются по UART или SPI порции по одному байту/слову, по мере возможности периферии</a:t>
            </a:r>
          </a:p>
          <a:p>
            <a:pPr lvl="1"/>
            <a:r>
              <a:rPr lang="ru-RU" dirty="0"/>
              <a:t>Это позволяет отправлять большие объемы данных (например, изображение на OLED-дисплей) без участия процессора.</a:t>
            </a:r>
          </a:p>
          <a:p>
            <a:pPr lvl="1"/>
            <a:r>
              <a:rPr lang="ru-RU" dirty="0"/>
              <a:t>Результат: высокая скорость передачи и минимизация задержек </a:t>
            </a:r>
          </a:p>
        </p:txBody>
      </p:sp>
    </p:spTree>
    <p:extLst>
      <p:ext uri="{BB962C8B-B14F-4D97-AF65-F5344CB8AC3E}">
        <p14:creationId xmlns:p14="http://schemas.microsoft.com/office/powerpoint/2010/main" val="46019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 </a:t>
            </a:r>
            <a:r>
              <a:rPr lang="en-US" dirty="0"/>
              <a:t>DMA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Другие сценарии применения</a:t>
            </a:r>
          </a:p>
          <a:p>
            <a:endParaRPr lang="ru-RU" dirty="0"/>
          </a:p>
          <a:p>
            <a:r>
              <a:rPr lang="ru-RU" dirty="0"/>
              <a:t>Работа с SD-картами  — передача данных между контроллером и картой памяти</a:t>
            </a:r>
          </a:p>
          <a:p>
            <a:r>
              <a:rPr lang="ru-RU" dirty="0"/>
              <a:t>Управление дисплеями  — вывод изображения без нагрузки на процессор</a:t>
            </a:r>
          </a:p>
          <a:p>
            <a:r>
              <a:rPr lang="ru-RU" dirty="0" err="1"/>
              <a:t>Аудиообработка</a:t>
            </a:r>
            <a:r>
              <a:rPr lang="ru-RU" dirty="0"/>
              <a:t>  — передача звуковых данных во внешний ЦАП</a:t>
            </a:r>
          </a:p>
        </p:txBody>
      </p:sp>
    </p:spTree>
    <p:extLst>
      <p:ext uri="{BB962C8B-B14F-4D97-AF65-F5344CB8AC3E}">
        <p14:creationId xmlns:p14="http://schemas.microsoft.com/office/powerpoint/2010/main" val="16548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особенности DMA в AVR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В AVR используются каналы DMA , каждый из которых может быть настроен на определённую задачу. Обычно доступно 4 канала</a:t>
            </a:r>
          </a:p>
          <a:p>
            <a:r>
              <a:rPr lang="ru-RU" dirty="0"/>
              <a:t>Каждый канал DMA имеет: </a:t>
            </a:r>
          </a:p>
          <a:p>
            <a:pPr lvl="1"/>
            <a:r>
              <a:rPr lang="ru-RU" dirty="0"/>
              <a:t>Регистры адреса источника (SRCADDR)</a:t>
            </a:r>
          </a:p>
          <a:p>
            <a:pPr lvl="1"/>
            <a:r>
              <a:rPr lang="ru-RU" dirty="0"/>
              <a:t>Регистры адреса назначения (DSTADDR)</a:t>
            </a:r>
          </a:p>
          <a:p>
            <a:pPr lvl="1"/>
            <a:r>
              <a:rPr lang="ru-RU" dirty="0"/>
              <a:t>Счётчик байтов (BCNT)</a:t>
            </a:r>
          </a:p>
          <a:p>
            <a:pPr lvl="1"/>
            <a:r>
              <a:rPr lang="ru-RU" dirty="0"/>
              <a:t>Режим управления адресом (ADDRCTRL)</a:t>
            </a:r>
          </a:p>
          <a:p>
            <a:pPr lvl="1"/>
            <a:r>
              <a:rPr lang="ru-RU" dirty="0"/>
              <a:t>Триггер активации (TRIGSRC)</a:t>
            </a:r>
          </a:p>
          <a:p>
            <a:r>
              <a:rPr lang="ru-RU" dirty="0"/>
              <a:t> 	Также </a:t>
            </a:r>
            <a:r>
              <a:rPr lang="en-US" dirty="0"/>
              <a:t>DMA </a:t>
            </a:r>
            <a:r>
              <a:rPr lang="ru-RU" dirty="0"/>
              <a:t>поддерживает триггеры</a:t>
            </a:r>
          </a:p>
          <a:p>
            <a:pPr lvl="1"/>
            <a:r>
              <a:rPr lang="ru-RU" dirty="0"/>
              <a:t>    USART (прием/передача)</a:t>
            </a:r>
          </a:p>
          <a:p>
            <a:pPr lvl="1"/>
            <a:r>
              <a:rPr lang="ru-RU" dirty="0"/>
              <a:t>    SPI</a:t>
            </a:r>
          </a:p>
          <a:p>
            <a:pPr lvl="1"/>
            <a:r>
              <a:rPr lang="ru-RU" dirty="0"/>
              <a:t>    I²C (TWI)</a:t>
            </a:r>
          </a:p>
          <a:p>
            <a:pPr lvl="1"/>
            <a:r>
              <a:rPr lang="ru-RU" dirty="0"/>
              <a:t>    АЦП</a:t>
            </a:r>
          </a:p>
          <a:p>
            <a:pPr lvl="1"/>
            <a:r>
              <a:rPr lang="ru-RU" dirty="0"/>
              <a:t>    Таймеры</a:t>
            </a:r>
          </a:p>
          <a:p>
            <a:pPr lvl="1"/>
            <a:r>
              <a:rPr lang="ru-RU" dirty="0"/>
              <a:t>    Передача "память-память"</a:t>
            </a:r>
          </a:p>
        </p:txBody>
      </p:sp>
    </p:spTree>
    <p:extLst>
      <p:ext uri="{BB962C8B-B14F-4D97-AF65-F5344CB8AC3E}">
        <p14:creationId xmlns:p14="http://schemas.microsoft.com/office/powerpoint/2010/main" val="217342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DMA </a:t>
            </a:r>
            <a:r>
              <a:rPr lang="ru-RU" dirty="0"/>
              <a:t>в </a:t>
            </a:r>
            <a:r>
              <a:rPr lang="en-US" dirty="0"/>
              <a:t>STM32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74040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большинстве моделей STM32 используется до двух независимых контроллеров DMA :   </a:t>
            </a:r>
          </a:p>
          <a:p>
            <a:pPr lvl="1"/>
            <a:r>
              <a:rPr lang="ru-RU" dirty="0"/>
              <a:t>DMA1  — первый контроллер, обычно с меньшими возможностями</a:t>
            </a:r>
          </a:p>
          <a:p>
            <a:pPr lvl="1"/>
            <a:r>
              <a:rPr lang="ru-RU" dirty="0"/>
              <a:t>DMA2  — второй контроллер, может быть более производительным и поддерживать дополнительные функции</a:t>
            </a:r>
          </a:p>
          <a:p>
            <a:pPr lvl="2"/>
            <a:r>
              <a:rPr lang="ru-RU" dirty="0"/>
              <a:t> DMA1 имеет до 7 каналов, DMA2 – до 5 каналов</a:t>
            </a:r>
          </a:p>
          <a:p>
            <a:r>
              <a:rPr lang="ru-RU" dirty="0"/>
              <a:t>Оба контроллера подключены к шине AHB, что обеспечивает высокую скорость передачи данных. Для их использования необходимо предварительно включить тактирование через регистр RCC_AHBENR</a:t>
            </a:r>
          </a:p>
          <a:p>
            <a:r>
              <a:rPr lang="ru-RU" dirty="0"/>
              <a:t>Для управления очередностью выполнения задач у каждого канала есть два типа приоритетов</a:t>
            </a:r>
          </a:p>
          <a:p>
            <a:pPr lvl="1"/>
            <a:r>
              <a:rPr lang="ru-RU" dirty="0" err="1"/>
              <a:t>Программно</a:t>
            </a:r>
            <a:r>
              <a:rPr lang="ru-RU" dirty="0"/>
              <a:t> задаваемый приоритет, задается в регистре </a:t>
            </a:r>
            <a:r>
              <a:rPr lang="ru-RU" dirty="0" err="1"/>
              <a:t>DMA_CCRx</a:t>
            </a:r>
            <a:r>
              <a:rPr lang="ru-RU" dirty="0"/>
              <a:t>. Возможны четыре уровня:</a:t>
            </a:r>
          </a:p>
          <a:p>
            <a:pPr lvl="2"/>
            <a:r>
              <a:rPr lang="ru-RU" dirty="0"/>
              <a:t> 00  — низкий</a:t>
            </a:r>
          </a:p>
          <a:p>
            <a:pPr lvl="2"/>
            <a:r>
              <a:rPr lang="ru-RU" dirty="0"/>
              <a:t> 01  — средний</a:t>
            </a:r>
          </a:p>
          <a:p>
            <a:pPr lvl="2"/>
            <a:r>
              <a:rPr lang="ru-RU" dirty="0"/>
              <a:t> 10  — высокий</a:t>
            </a:r>
          </a:p>
          <a:p>
            <a:pPr lvl="2"/>
            <a:r>
              <a:rPr lang="ru-RU" dirty="0"/>
              <a:t> 11  — очень высокий</a:t>
            </a:r>
          </a:p>
          <a:p>
            <a:pPr lvl="1"/>
            <a:r>
              <a:rPr lang="ru-RU" dirty="0"/>
              <a:t>Аппаратный приоритет, если несколько каналов запрашивают выполнение одновременно и имеют одинаковый программный приоритет, то побеждает канал с меньшим номером</a:t>
            </a:r>
          </a:p>
        </p:txBody>
      </p:sp>
    </p:spTree>
    <p:extLst>
      <p:ext uri="{BB962C8B-B14F-4D97-AF65-F5344CB8AC3E}">
        <p14:creationId xmlns:p14="http://schemas.microsoft.com/office/powerpoint/2010/main" val="394326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</a:t>
            </a:r>
            <a:r>
              <a:rPr lang="en-US" dirty="0"/>
              <a:t>DMA </a:t>
            </a:r>
            <a:r>
              <a:rPr lang="ru-RU" dirty="0"/>
              <a:t>в </a:t>
            </a:r>
            <a:r>
              <a:rPr lang="en-US" dirty="0"/>
              <a:t>STM32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1. </a:t>
            </a:r>
            <a:r>
              <a:rPr lang="ru-RU" dirty="0" err="1"/>
              <a:t>DMA_CCRx</a:t>
            </a:r>
            <a:r>
              <a:rPr lang="ru-RU" dirty="0"/>
              <a:t> (Channel Configuration </a:t>
            </a:r>
            <a:r>
              <a:rPr lang="ru-RU" dirty="0" err="1"/>
              <a:t>Register</a:t>
            </a:r>
            <a:r>
              <a:rPr lang="ru-RU" dirty="0"/>
              <a:t>)  </a:t>
            </a:r>
          </a:p>
          <a:p>
            <a:pPr lvl="1"/>
            <a:r>
              <a:rPr lang="ru-RU" dirty="0"/>
              <a:t>Содержит основные настройки канала: </a:t>
            </a:r>
          </a:p>
          <a:p>
            <a:pPr lvl="1"/>
            <a:r>
              <a:rPr lang="ru-RU" dirty="0"/>
              <a:t>Биты EN — включение/выключение канала</a:t>
            </a:r>
          </a:p>
          <a:p>
            <a:pPr lvl="1"/>
            <a:r>
              <a:rPr lang="ru-RU" dirty="0"/>
              <a:t>Биты TCIE, HTIE, TEIE — разрешение прерываний по завершению, половине передачи и ошибке соответственно</a:t>
            </a:r>
          </a:p>
          <a:p>
            <a:pPr lvl="1"/>
            <a:r>
              <a:rPr lang="ru-RU" dirty="0"/>
              <a:t>Биты DIR — направление передачи:</a:t>
            </a:r>
          </a:p>
          <a:p>
            <a:pPr lvl="2"/>
            <a:r>
              <a:rPr lang="ru-RU" dirty="0"/>
              <a:t>0 — из периферии в память</a:t>
            </a:r>
          </a:p>
          <a:p>
            <a:pPr lvl="2"/>
            <a:r>
              <a:rPr lang="ru-RU" dirty="0"/>
              <a:t>1 — из памяти в периферию</a:t>
            </a:r>
          </a:p>
          <a:p>
            <a:pPr lvl="1"/>
            <a:r>
              <a:rPr lang="ru-RU" dirty="0"/>
              <a:t>Биты CIRC — включение циклического режима (полезен для кольцевых буферов)</a:t>
            </a:r>
          </a:p>
          <a:p>
            <a:pPr lvl="1"/>
            <a:r>
              <a:rPr lang="ru-RU" dirty="0"/>
              <a:t>Биты PINC, MINC — инкремент адреса источника (PINC) и приемника (MINC):</a:t>
            </a:r>
          </a:p>
          <a:p>
            <a:pPr lvl="2"/>
            <a:r>
              <a:rPr lang="ru-RU" dirty="0"/>
              <a:t>0 — адрес не меняется</a:t>
            </a:r>
          </a:p>
          <a:p>
            <a:pPr lvl="2"/>
            <a:r>
              <a:rPr lang="ru-RU" dirty="0"/>
              <a:t>1 — адрес увеличивается после каждой передачи</a:t>
            </a:r>
          </a:p>
          <a:p>
            <a:pPr lvl="1"/>
            <a:r>
              <a:rPr lang="ru-RU" dirty="0"/>
              <a:t>Биты PSIZE, MSIZE — размер данных:</a:t>
            </a:r>
          </a:p>
          <a:p>
            <a:pPr lvl="2"/>
            <a:r>
              <a:rPr lang="ru-RU" dirty="0"/>
              <a:t>00 — 8 бит (байт)</a:t>
            </a:r>
          </a:p>
          <a:p>
            <a:pPr lvl="2"/>
            <a:r>
              <a:rPr lang="ru-RU" dirty="0"/>
              <a:t>01 — 16 бит (слово)</a:t>
            </a:r>
          </a:p>
          <a:p>
            <a:pPr lvl="2"/>
            <a:r>
              <a:rPr lang="ru-RU" dirty="0"/>
              <a:t>10 — 32 бита (двойное слово)</a:t>
            </a:r>
          </a:p>
          <a:p>
            <a:pPr lvl="1"/>
            <a:r>
              <a:rPr lang="ru-RU" dirty="0"/>
              <a:t>Биты PL[1:0] — уровень приоритета</a:t>
            </a:r>
          </a:p>
          <a:p>
            <a:pPr lvl="1"/>
            <a:r>
              <a:rPr lang="ru-RU" dirty="0"/>
              <a:t>Бит MEM2MEM — включение режима "память-память"</a:t>
            </a:r>
          </a:p>
        </p:txBody>
      </p:sp>
    </p:spTree>
    <p:extLst>
      <p:ext uri="{BB962C8B-B14F-4D97-AF65-F5344CB8AC3E}">
        <p14:creationId xmlns:p14="http://schemas.microsoft.com/office/powerpoint/2010/main" val="405478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Регистры </a:t>
            </a:r>
            <a:r>
              <a:rPr lang="en-US" dirty="0"/>
              <a:t>DMA </a:t>
            </a:r>
            <a:r>
              <a:rPr lang="ru-RU" dirty="0"/>
              <a:t>в </a:t>
            </a:r>
            <a:r>
              <a:rPr lang="en-US" dirty="0"/>
              <a:t>STM32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2. </a:t>
            </a:r>
            <a:r>
              <a:rPr lang="ru-RU" dirty="0" err="1"/>
              <a:t>DMA_CPARx</a:t>
            </a:r>
            <a:r>
              <a:rPr lang="ru-RU" dirty="0"/>
              <a:t> (</a:t>
            </a:r>
            <a:r>
              <a:rPr lang="ru-RU" dirty="0" err="1"/>
              <a:t>Peripheral</a:t>
            </a:r>
            <a:r>
              <a:rPr lang="ru-RU" dirty="0"/>
              <a:t> Address </a:t>
            </a:r>
            <a:r>
              <a:rPr lang="ru-RU" dirty="0" err="1"/>
              <a:t>Register</a:t>
            </a:r>
            <a:r>
              <a:rPr lang="ru-RU" dirty="0"/>
              <a:t>)  </a:t>
            </a:r>
          </a:p>
          <a:p>
            <a:pPr lvl="1"/>
            <a:r>
              <a:rPr lang="ru-RU" dirty="0"/>
              <a:t>Хранит адрес регистра периферийного устройства , с которым осуществляется обмен данными (например, USART_DR, ADC_DR и т. д.).   </a:t>
            </a:r>
            <a:endParaRPr lang="en-US" dirty="0"/>
          </a:p>
          <a:p>
            <a:pPr lvl="2"/>
            <a:r>
              <a:rPr lang="ru-RU" dirty="0"/>
              <a:t>Адрес должен быть выровнен в соответствии с размером данных (PSIZE), иначе могут возникнуть ошибки.</a:t>
            </a:r>
          </a:p>
          <a:p>
            <a:r>
              <a:rPr lang="ru-RU" dirty="0"/>
              <a:t>3. </a:t>
            </a:r>
            <a:r>
              <a:rPr lang="ru-RU" dirty="0" err="1"/>
              <a:t>DMA_CMARx</a:t>
            </a:r>
            <a:r>
              <a:rPr lang="ru-RU" dirty="0"/>
              <a:t> (Memory Address </a:t>
            </a:r>
            <a:r>
              <a:rPr lang="ru-RU" dirty="0" err="1"/>
              <a:t>Register</a:t>
            </a:r>
            <a:r>
              <a:rPr lang="ru-RU" dirty="0"/>
              <a:t>)  </a:t>
            </a:r>
            <a:endParaRPr lang="en-US" dirty="0"/>
          </a:p>
          <a:p>
            <a:pPr lvl="1"/>
            <a:r>
              <a:rPr lang="ru-RU" dirty="0"/>
              <a:t>Содержит адрес начала буфера в оперативной памяти , куда будут записываться данные или откуда они будут считываться. </a:t>
            </a:r>
          </a:p>
          <a:p>
            <a:r>
              <a:rPr lang="ru-RU" dirty="0"/>
              <a:t>4. </a:t>
            </a:r>
            <a:r>
              <a:rPr lang="ru-RU" dirty="0" err="1"/>
              <a:t>DMA_CNDTRx</a:t>
            </a:r>
            <a:r>
              <a:rPr lang="ru-RU" dirty="0"/>
              <a:t> (Number </a:t>
            </a:r>
            <a:r>
              <a:rPr lang="ru-RU" dirty="0" err="1"/>
              <a:t>of</a:t>
            </a:r>
            <a:r>
              <a:rPr lang="ru-RU" dirty="0"/>
              <a:t> Data </a:t>
            </a:r>
            <a:r>
              <a:rPr lang="ru-RU" dirty="0" err="1"/>
              <a:t>Register</a:t>
            </a:r>
            <a:r>
              <a:rPr lang="ru-RU" dirty="0"/>
              <a:t>)  </a:t>
            </a:r>
            <a:endParaRPr lang="en-US" dirty="0"/>
          </a:p>
          <a:p>
            <a:pPr lvl="1"/>
            <a:r>
              <a:rPr lang="ru-RU" dirty="0"/>
              <a:t>Определяет количество блоков данных , которые нужно передать.   </a:t>
            </a:r>
            <a:endParaRPr lang="en-US" dirty="0"/>
          </a:p>
          <a:p>
            <a:pPr lvl="1"/>
            <a:r>
              <a:rPr lang="ru-RU" dirty="0"/>
              <a:t>Один блок может быть 1, 2 или 4 байта в зависимости от настроек PSIZE и MSIZE.</a:t>
            </a:r>
            <a:endParaRPr lang="en-US" dirty="0"/>
          </a:p>
          <a:p>
            <a:pPr lvl="2"/>
            <a:r>
              <a:rPr lang="ru-RU" dirty="0"/>
              <a:t>Диапазон значений: от 1 до 65535.</a:t>
            </a:r>
          </a:p>
        </p:txBody>
      </p:sp>
    </p:spTree>
    <p:extLst>
      <p:ext uri="{BB962C8B-B14F-4D97-AF65-F5344CB8AC3E}">
        <p14:creationId xmlns:p14="http://schemas.microsoft.com/office/powerpoint/2010/main" val="401687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параметров передачи в </a:t>
            </a:r>
            <a:r>
              <a:rPr lang="en-US" dirty="0"/>
              <a:t>DMA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Выбор источника и назначения</a:t>
            </a:r>
          </a:p>
          <a:p>
            <a:pPr lvl="1"/>
            <a:r>
              <a:rPr lang="ru-RU" dirty="0"/>
              <a:t>память/память, память/периферия, периферия/память</a:t>
            </a:r>
          </a:p>
          <a:p>
            <a:r>
              <a:rPr lang="ru-RU" dirty="0"/>
              <a:t>Выбор размера передаваемых данных</a:t>
            </a:r>
          </a:p>
          <a:p>
            <a:pPr lvl="1"/>
            <a:r>
              <a:rPr lang="ru-RU" dirty="0"/>
              <a:t>1 байт, 2 байта (слово), 4 байта (двойное слово)</a:t>
            </a:r>
          </a:p>
          <a:p>
            <a:r>
              <a:rPr lang="ru-RU" dirty="0"/>
              <a:t>Инкремент адресов</a:t>
            </a:r>
          </a:p>
          <a:p>
            <a:pPr lvl="1"/>
            <a:r>
              <a:rPr lang="ru-RU" dirty="0"/>
              <a:t>PINC = 1</a:t>
            </a:r>
          </a:p>
          <a:p>
            <a:pPr lvl="2"/>
            <a:r>
              <a:rPr lang="ru-RU" dirty="0"/>
              <a:t>Адрес периферии увеличивается после каждого цикла (=0 для </a:t>
            </a:r>
            <a:r>
              <a:rPr lang="ru-RU" dirty="0" err="1"/>
              <a:t>ацп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MINC = 1</a:t>
            </a:r>
          </a:p>
          <a:p>
            <a:pPr lvl="2"/>
            <a:r>
              <a:rPr lang="ru-RU" dirty="0"/>
              <a:t>Адрес памяти увеличивается после каждого цикла (=1 при записи в буфер в памяти)</a:t>
            </a:r>
          </a:p>
          <a:p>
            <a:r>
              <a:rPr lang="ru-RU" dirty="0"/>
              <a:t>Циклический режим, </a:t>
            </a:r>
            <a:r>
              <a:rPr lang="en-US" dirty="0"/>
              <a:t>CIRC (Circular Mode)</a:t>
            </a:r>
            <a:endParaRPr lang="ru-RU" dirty="0"/>
          </a:p>
          <a:p>
            <a:pPr lvl="1"/>
            <a:r>
              <a:rPr lang="ru-RU" dirty="0"/>
              <a:t>Если установлен бит CIRC, то после завершения передачи (когда счётчик </a:t>
            </a:r>
            <a:r>
              <a:rPr lang="ru-RU" dirty="0" err="1"/>
              <a:t>DMA_CNDTRx</a:t>
            </a:r>
            <a:r>
              <a:rPr lang="ru-RU" dirty="0"/>
              <a:t> достигает нуля), он автоматически перезагружается обратно  на начальное значение, и передача продолжается заново</a:t>
            </a:r>
          </a:p>
          <a:p>
            <a:pPr lvl="1"/>
            <a:r>
              <a:rPr lang="ru-RU" dirty="0"/>
              <a:t>Например для приёма данных по UART в кольцевой буфер или для обработки потоковых данных от АЦП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447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Прерывания от </a:t>
            </a:r>
            <a:r>
              <a:rPr lang="en-US" dirty="0"/>
              <a:t>DMA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Типы прерываний</a:t>
            </a:r>
          </a:p>
          <a:p>
            <a:pPr lvl="1"/>
            <a:r>
              <a:rPr lang="ru-RU" dirty="0"/>
              <a:t>TC (Transfer </a:t>
            </a:r>
            <a:r>
              <a:rPr lang="ru-RU" dirty="0" err="1"/>
              <a:t>Complete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Генерируется, когда весь объём данных успешно передан. Используется для завершения операции и запуска дальнейшей обработки</a:t>
            </a:r>
          </a:p>
          <a:p>
            <a:pPr lvl="1"/>
            <a:r>
              <a:rPr lang="ru-RU" dirty="0"/>
              <a:t>HT (Half Transfer)</a:t>
            </a:r>
          </a:p>
          <a:p>
            <a:pPr lvl="2"/>
            <a:r>
              <a:rPr lang="ru-RU" dirty="0"/>
              <a:t>Возникает, когда передана половина данных. Полезно для организации двойного буферирования — например, одна половина обрабатывается, а вторая заполняется</a:t>
            </a:r>
          </a:p>
          <a:p>
            <a:pPr lvl="1"/>
            <a:r>
              <a:rPr lang="ru-RU" dirty="0"/>
              <a:t>TE (Transfer </a:t>
            </a:r>
            <a:r>
              <a:rPr lang="ru-RU" dirty="0" err="1"/>
              <a:t>Error</a:t>
            </a:r>
            <a:r>
              <a:rPr lang="ru-RU" dirty="0"/>
              <a:t>)</a:t>
            </a:r>
          </a:p>
          <a:p>
            <a:pPr lvl="2"/>
            <a:r>
              <a:rPr lang="ru-RU" dirty="0"/>
              <a:t>Сигнализирует о возникновении ошибки при передаче (например, выход за пределы адресного пространства или конфликт шины)</a:t>
            </a:r>
          </a:p>
        </p:txBody>
      </p:sp>
    </p:spTree>
    <p:extLst>
      <p:ext uri="{BB962C8B-B14F-4D97-AF65-F5344CB8AC3E}">
        <p14:creationId xmlns:p14="http://schemas.microsoft.com/office/powerpoint/2010/main" val="361959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60366" cy="1320800"/>
          </a:xfrm>
        </p:spPr>
        <p:txBody>
          <a:bodyPr/>
          <a:lstStyle/>
          <a:p>
            <a:r>
              <a:rPr lang="ru-RU" dirty="0"/>
              <a:t>Инициализация и </a:t>
            </a:r>
            <a:r>
              <a:rPr lang="ru-RU" dirty="0" err="1"/>
              <a:t>деинициализация</a:t>
            </a:r>
            <a:r>
              <a:rPr lang="ru-RU" dirty="0"/>
              <a:t> </a:t>
            </a:r>
            <a:r>
              <a:rPr lang="en-US" dirty="0"/>
              <a:t>DMA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/>
          </a:bodyPr>
          <a:lstStyle/>
          <a:p>
            <a:r>
              <a:rPr lang="ru-RU" dirty="0"/>
              <a:t>Некоторые биты регистров нельзя менять во время работы DMA</a:t>
            </a:r>
          </a:p>
          <a:p>
            <a:r>
              <a:rPr lang="ru-RU" dirty="0"/>
              <a:t>Общий порядок действий при включении канала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Отключить канал DMA  (</a:t>
            </a:r>
            <a:r>
              <a:rPr lang="ru-RU" dirty="0" err="1"/>
              <a:t>DMA_Channelx</a:t>
            </a:r>
            <a:r>
              <a:rPr lang="ru-RU" dirty="0"/>
              <a:t>-&gt;CCR &amp;= ~DMA_CCR_EN)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Очистить флаги прерываний , если они были установлены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Настроить все параметры канала:</a:t>
            </a:r>
          </a:p>
          <a:p>
            <a:pPr lvl="2"/>
            <a:r>
              <a:rPr lang="ru-RU" dirty="0"/>
              <a:t>Адрес источника (CPAR)</a:t>
            </a:r>
          </a:p>
          <a:p>
            <a:pPr lvl="2"/>
            <a:r>
              <a:rPr lang="ru-RU" dirty="0"/>
              <a:t>Адрес назначения (CMAR)</a:t>
            </a:r>
          </a:p>
          <a:p>
            <a:pPr lvl="2"/>
            <a:r>
              <a:rPr lang="ru-RU" dirty="0"/>
              <a:t>Количество передаваемых данных (CNDTR)</a:t>
            </a:r>
          </a:p>
          <a:p>
            <a:pPr lvl="2"/>
            <a:r>
              <a:rPr lang="ru-RU" dirty="0"/>
              <a:t>Режимы передачи (CCR)</a:t>
            </a:r>
          </a:p>
          <a:p>
            <a:pPr marL="800100" lvl="1" indent="-342900">
              <a:buFont typeface="+mj-lt"/>
              <a:buAutoNum type="arabicPeriod"/>
            </a:pPr>
            <a:r>
              <a:rPr lang="ru-RU" dirty="0"/>
              <a:t>Включить канал DMA  (</a:t>
            </a:r>
            <a:r>
              <a:rPr lang="ru-RU" dirty="0" err="1"/>
              <a:t>DMA_Channelx</a:t>
            </a:r>
            <a:r>
              <a:rPr lang="ru-RU" dirty="0"/>
              <a:t>-&gt;CCR |= DMA_CCR_EN).</a:t>
            </a:r>
          </a:p>
          <a:p>
            <a:pPr marL="400050"/>
            <a:r>
              <a:rPr lang="ru-RU" dirty="0"/>
              <a:t>При записи в регистры необходимо явно указывать тип данных, так как оптимизатор может переупорядочивать операции или игнорировать запись в регистры, если не указан явно тип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676351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Некоторые оптимизации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558800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Использование циклического режима для создания кольцевых буферов </a:t>
            </a:r>
          </a:p>
          <a:p>
            <a:pPr lvl="1"/>
            <a:r>
              <a:rPr lang="ru-RU" dirty="0"/>
              <a:t>Циклический режим (</a:t>
            </a:r>
            <a:r>
              <a:rPr lang="ru-RU" dirty="0" err="1"/>
              <a:t>Circular</a:t>
            </a:r>
            <a:r>
              <a:rPr lang="ru-RU" dirty="0"/>
              <a:t> Mode) позволяет организовать передачу данных по кругу, без необходимости повторной настройки канала после завершения передачи, в отличие от обычной линейной передачи. Это особенно полезно при работе с потоковыми данными:</a:t>
            </a:r>
          </a:p>
          <a:p>
            <a:pPr lvl="2"/>
            <a:r>
              <a:rPr lang="ru-RU" dirty="0"/>
              <a:t>Приём данных от АЦП</a:t>
            </a:r>
          </a:p>
          <a:p>
            <a:pPr lvl="2"/>
            <a:r>
              <a:rPr lang="ru-RU" dirty="0"/>
              <a:t>Приём данных по UART или SPI</a:t>
            </a:r>
          </a:p>
          <a:p>
            <a:pPr lvl="2"/>
            <a:r>
              <a:rPr lang="ru-RU" dirty="0"/>
              <a:t>Обработка аудио/видеосигналов</a:t>
            </a:r>
          </a:p>
          <a:p>
            <a:r>
              <a:rPr lang="ru-RU" dirty="0"/>
              <a:t>Прерывания Half Transfer для обработки данных "на лету" </a:t>
            </a:r>
          </a:p>
          <a:p>
            <a:pPr lvl="1"/>
            <a:r>
              <a:rPr lang="ru-RU" dirty="0"/>
              <a:t>Прерывание Half Transfer (HTIE)  генерируется, когда передана половина данных, указанных в </a:t>
            </a:r>
            <a:r>
              <a:rPr lang="ru-RU" dirty="0" err="1"/>
              <a:t>DMA_CNDTRx</a:t>
            </a:r>
            <a:r>
              <a:rPr lang="ru-RU" dirty="0"/>
              <a:t>. Это позволяет начать обработку уже принятой части данных, не дожидаясь завершения всей передачи. Хорошо работает с циклическим режимом.</a:t>
            </a:r>
          </a:p>
          <a:p>
            <a:r>
              <a:rPr lang="ru-RU" dirty="0"/>
              <a:t>Генерация сигнала ШИМ по заранее подготовленному массиву значений. </a:t>
            </a:r>
          </a:p>
          <a:p>
            <a:pPr lvl="1"/>
            <a:r>
              <a:rPr lang="ru-RU" dirty="0"/>
              <a:t>Таймер настроен на генерацию PWM, DMA подключен к регистру сравнения таймера, массив данных содержит значения, которые будут подаваться на ШИМ.</a:t>
            </a:r>
          </a:p>
          <a:p>
            <a:pPr lvl="1"/>
            <a:r>
              <a:rPr lang="ru-RU" dirty="0"/>
              <a:t>Преимущества: </a:t>
            </a:r>
          </a:p>
          <a:p>
            <a:pPr lvl="2"/>
            <a:r>
              <a:rPr lang="ru-RU" dirty="0"/>
              <a:t>Генерация произвольной формы сигнала (DAC-подобный эффект)</a:t>
            </a:r>
          </a:p>
          <a:p>
            <a:pPr lvl="2"/>
            <a:r>
              <a:rPr lang="ru-RU" dirty="0"/>
              <a:t>Использование с ЦАП или ШИМ для аудио, синусоид и т. д.</a:t>
            </a:r>
          </a:p>
          <a:p>
            <a:pPr lvl="2"/>
            <a:r>
              <a:rPr lang="ru-RU" dirty="0"/>
              <a:t>Подходит для функциональных генераторов.</a:t>
            </a:r>
          </a:p>
        </p:txBody>
      </p:sp>
    </p:spTree>
    <p:extLst>
      <p:ext uri="{BB962C8B-B14F-4D97-AF65-F5344CB8AC3E}">
        <p14:creationId xmlns:p14="http://schemas.microsoft.com/office/powerpoint/2010/main" val="321020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 другими методами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1CC7002-92B6-971B-AF4B-8B3E016D72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225491"/>
              </p:ext>
            </p:extLst>
          </p:nvPr>
        </p:nvGraphicFramePr>
        <p:xfrm>
          <a:off x="806450" y="1409700"/>
          <a:ext cx="8185150" cy="4654552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637030">
                  <a:extLst>
                    <a:ext uri="{9D8B030D-6E8A-4147-A177-3AD203B41FA5}">
                      <a16:colId xmlns:a16="http://schemas.microsoft.com/office/drawing/2014/main" val="1753190693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3911292993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4037156295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296915057"/>
                    </a:ext>
                  </a:extLst>
                </a:gridCol>
                <a:gridCol w="1637030">
                  <a:extLst>
                    <a:ext uri="{9D8B030D-6E8A-4147-A177-3AD203B41FA5}">
                      <a16:colId xmlns:a16="http://schemas.microsoft.com/office/drawing/2014/main" val="2075657761"/>
                    </a:ext>
                  </a:extLst>
                </a:gridCol>
              </a:tblGrid>
              <a:tr h="2142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Параметр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memcpy</a:t>
                      </a:r>
                      <a:r>
                        <a:rPr lang="en-US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()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Прерывания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Поллинг</a:t>
                      </a:r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70838"/>
                  </a:ext>
                </a:extLst>
              </a:tr>
              <a:tr h="31843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Участие </a:t>
                      </a:r>
                      <a:r>
                        <a:rPr lang="en-US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Да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Да (при обработке)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Да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106000"/>
                  </a:ext>
                </a:extLst>
              </a:tr>
              <a:tr h="2142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Нагрузка на </a:t>
                      </a:r>
                      <a:r>
                        <a:rPr lang="en-US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Очень низкая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Высокая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Средняя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Высокая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42978"/>
                  </a:ext>
                </a:extLst>
              </a:tr>
              <a:tr h="31843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Задержки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Минимальные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Зависят от объема данных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Средние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Высокие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046760"/>
                  </a:ext>
                </a:extLst>
              </a:tr>
              <a:tr h="31843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Энергопотребление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Низкое (можно спать)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Высокое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Среднее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Высокое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72664"/>
                  </a:ext>
                </a:extLst>
              </a:tr>
              <a:tr h="6309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Производительность при больших </a:t>
                      </a:r>
                    </a:p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объёмах данных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Очень высокая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Средняя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Низкая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Низкая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024093"/>
                  </a:ext>
                </a:extLst>
              </a:tr>
              <a:tr h="42260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Нужны ли </a:t>
                      </a:r>
                    </a:p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доп. ресурсы?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Регистры </a:t>
                      </a:r>
                      <a:r>
                        <a:rPr 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DMA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Прерывания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0613241"/>
                  </a:ext>
                </a:extLst>
              </a:tr>
              <a:tr h="31843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Простота реализации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Средняя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Простая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Средняя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Простая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563105"/>
                  </a:ext>
                </a:extLst>
              </a:tr>
              <a:tr h="526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Возможность параллельной работы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Да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Частично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7151202"/>
                  </a:ext>
                </a:extLst>
              </a:tr>
              <a:tr h="31843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Риск потери данных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Низкий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Может быть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Может быть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76959"/>
                  </a:ext>
                </a:extLst>
              </a:tr>
              <a:tr h="526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Подходит для </a:t>
                      </a:r>
                    </a:p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реального времени?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Да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Иногда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Иногда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Нет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123852"/>
                  </a:ext>
                </a:extLst>
              </a:tr>
              <a:tr h="526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Типичная скорость </a:t>
                      </a:r>
                    </a:p>
                    <a:p>
                      <a:pPr algn="ctr" fontAlgn="b"/>
                      <a:r>
                        <a:rPr lang="ru-RU" sz="105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(для ~1000 байт)</a:t>
                      </a:r>
                    </a:p>
                  </a:txBody>
                  <a:tcPr marL="7106" marR="7106" marT="7106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~50 мкс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~150 мкс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~300 мкс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~400 мкс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106" marR="7106" marT="7106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84876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8292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13920C3-C940-CAC0-1732-446C65AE8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75" y="0"/>
            <a:ext cx="12195175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rot="20369466">
            <a:off x="-2917036" y="-2050204"/>
            <a:ext cx="17814137" cy="10858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</a:t>
            </a:r>
            <a:r>
              <a:rPr lang="ru-RU" dirty="0">
                <a:solidFill>
                  <a:schemeClr val="bg1"/>
                </a:solidFill>
              </a:rPr>
              <a:t>42 42 42</a:t>
            </a: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 42 42 42 42 42 42 42 42 42 42 42 42 42 42 42 42 42 42 42 42 42 42 42 42 42 42 42 42 42 42 42 42 42 42 42 42 42 42 42 42 42 42 42 42 42 42 42 42 42 42 42 42 42 42 </a:t>
            </a:r>
            <a:r>
              <a:rPr lang="ru-RU" dirty="0">
                <a:solidFill>
                  <a:schemeClr val="bg1"/>
                </a:solidFill>
              </a:rPr>
              <a:t>42 42 42</a:t>
            </a: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 42 42 42 42 42 42 42 42 42 42 42 42 42 42 42 42 42 42 42 42 42 42 42 42 42 42 42 42 42 42 42 42 42 42 42 42 42 42 42 42 42 42 42 42 42 42 42 42 42 42 42 42 42 42 </a:t>
            </a:r>
            <a:r>
              <a:rPr lang="ru-RU" dirty="0">
                <a:solidFill>
                  <a:schemeClr val="bg1"/>
                </a:solidFill>
              </a:rPr>
              <a:t>42 42 42</a:t>
            </a:r>
            <a:r>
              <a:rPr lang="ru-RU" dirty="0">
                <a:solidFill>
                  <a:schemeClr val="bg1">
                    <a:lumMod val="85000"/>
                  </a:schemeClr>
                </a:solidFill>
              </a:rPr>
              <a:t>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42 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2783" y="630521"/>
            <a:ext cx="8596668" cy="1320800"/>
          </a:xfrm>
        </p:spPr>
        <p:txBody>
          <a:bodyPr>
            <a:normAutofit/>
          </a:bodyPr>
          <a:lstStyle/>
          <a:p>
            <a:r>
              <a:rPr lang="ru-RU" sz="4800" dirty="0"/>
              <a:t>42</a:t>
            </a:r>
          </a:p>
        </p:txBody>
      </p:sp>
      <p:grpSp>
        <p:nvGrpSpPr>
          <p:cNvPr id="28" name="Group 6">
            <a:extLst>
              <a:ext uri="{FF2B5EF4-FFF2-40B4-BE49-F238E27FC236}">
                <a16:creationId xmlns:a16="http://schemas.microsoft.com/office/drawing/2014/main" id="{98A2447F-B4FA-67A7-506B-A3B789E9D575}"/>
              </a:ext>
            </a:extLst>
          </p:cNvPr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9" name="Straight Connector 19">
              <a:extLst>
                <a:ext uri="{FF2B5EF4-FFF2-40B4-BE49-F238E27FC236}">
                  <a16:creationId xmlns:a16="http://schemas.microsoft.com/office/drawing/2014/main" id="{9619D9AC-6708-D5D4-2CB2-836A435B90EE}"/>
                </a:ext>
              </a:extLst>
            </p:cNvPr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0">
              <a:extLst>
                <a:ext uri="{FF2B5EF4-FFF2-40B4-BE49-F238E27FC236}">
                  <a16:creationId xmlns:a16="http://schemas.microsoft.com/office/drawing/2014/main" id="{96381169-BCEE-7A05-2341-9D35E08E1C41}"/>
                </a:ext>
              </a:extLst>
            </p:cNvPr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4D9D0A12-A3F9-B0AC-B653-8C74FA3C9F80}"/>
                </a:ext>
              </a:extLst>
            </p:cNvPr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E2C52305-4197-8580-10D1-14E7019B5783}"/>
                </a:ext>
              </a:extLst>
            </p:cNvPr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3" name="Isosceles Triangle 23">
              <a:extLst>
                <a:ext uri="{FF2B5EF4-FFF2-40B4-BE49-F238E27FC236}">
                  <a16:creationId xmlns:a16="http://schemas.microsoft.com/office/drawing/2014/main" id="{73ADCF2F-0D9D-D722-54C5-DCC78D963087}"/>
                </a:ext>
              </a:extLst>
            </p:cNvPr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3EF70268-1102-28AF-D7BE-8C5D3E0FBFA5}"/>
                </a:ext>
              </a:extLst>
            </p:cNvPr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8F952158-C69D-7AAC-B7E2-F504FE07FF31}"/>
                </a:ext>
              </a:extLst>
            </p:cNvPr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FAE459D1-CAB0-3136-6B0B-BABDF05D3F96}"/>
                </a:ext>
              </a:extLst>
            </p:cNvPr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7" name="Isosceles Triangle 27">
              <a:extLst>
                <a:ext uri="{FF2B5EF4-FFF2-40B4-BE49-F238E27FC236}">
                  <a16:creationId xmlns:a16="http://schemas.microsoft.com/office/drawing/2014/main" id="{48E0C59A-55FA-2F09-3AC8-61B1E3BABBBC}"/>
                </a:ext>
              </a:extLst>
            </p:cNvPr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38" name="Isosceles Triangle 28">
              <a:extLst>
                <a:ext uri="{FF2B5EF4-FFF2-40B4-BE49-F238E27FC236}">
                  <a16:creationId xmlns:a16="http://schemas.microsoft.com/office/drawing/2014/main" id="{92121C8B-AF7B-975C-CEE8-417C4D182F31}"/>
                </a:ext>
              </a:extLst>
            </p:cNvPr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9345072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EDCEEEF-B3B7-4C32-8C95-3700C9E0BCF9}">
  <we:reference id="wa200005107" version="1.1.0.0" store="ru-RU" storeType="OMEX"/>
  <we:alternateReferences>
    <we:reference id="WA200005107" version="1.1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368</TotalTime>
  <Words>3639</Words>
  <Application>Microsoft Office PowerPoint</Application>
  <PresentationFormat>Широкоэкранный</PresentationFormat>
  <Paragraphs>200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 Narrow</vt:lpstr>
      <vt:lpstr>Arial</vt:lpstr>
      <vt:lpstr>Trebuchet MS</vt:lpstr>
      <vt:lpstr>Wingdings 3</vt:lpstr>
      <vt:lpstr>Аспект</vt:lpstr>
      <vt:lpstr>Реализация  DMA-передачи в AVR</vt:lpstr>
      <vt:lpstr>Что такое DMA?</vt:lpstr>
      <vt:lpstr>Примеры использования DMA</vt:lpstr>
      <vt:lpstr>Примеры использования DMA</vt:lpstr>
      <vt:lpstr>Архитектурные особенности DMA в AVR</vt:lpstr>
      <vt:lpstr>Архитектура DMA в STM32</vt:lpstr>
      <vt:lpstr>Регистры DMA в STM32</vt:lpstr>
      <vt:lpstr>Регистры DMA в STM32</vt:lpstr>
      <vt:lpstr>Настройка параметров передачи в DMA</vt:lpstr>
      <vt:lpstr>Прерывания от DMA</vt:lpstr>
      <vt:lpstr>Инициализация и деинициализация DMA </vt:lpstr>
      <vt:lpstr>Некоторые оптимизации</vt:lpstr>
      <vt:lpstr>Сравнение с другими методами</vt:lpstr>
      <vt:lpstr>42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Пшеничников</dc:creator>
  <cp:lastModifiedBy>Артём Пшеничников</cp:lastModifiedBy>
  <cp:revision>8</cp:revision>
  <dcterms:created xsi:type="dcterms:W3CDTF">2025-05-21T12:49:30Z</dcterms:created>
  <dcterms:modified xsi:type="dcterms:W3CDTF">2025-06-16T23:43:49Z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